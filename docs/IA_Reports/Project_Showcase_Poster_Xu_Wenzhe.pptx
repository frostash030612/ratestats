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0691495" cy="151193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762" userDrawn="1">
          <p15:clr>
            <a:srgbClr val="A4A3A4"/>
          </p15:clr>
        </p15:guide>
        <p15:guide id="2" pos="33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4762"/>
        <p:guide pos="336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27305"/>
            <a:ext cx="10691495" cy="151193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0" y="0"/>
            <a:ext cx="5303520" cy="328930"/>
          </a:xfrm>
          <a:prstGeom prst="rect">
            <a:avLst/>
          </a:prstGeom>
          <a:solidFill>
            <a:srgbClr val="002D6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09220" y="27305"/>
            <a:ext cx="502920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800"/>
              </a:spcAft>
            </a:pPr>
            <a:r>
              <a:rPr lang="en-US" altLang="en-US" sz="1200" b="1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Graduate Diploma in Systems Analysis</a:t>
            </a:r>
            <a:endParaRPr lang="en-US" altLang="en-US" sz="1200" b="1">
              <a:solidFill>
                <a:srgbClr val="FFFFFF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5" name="图片 4" descr="nus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3305" y="27305"/>
            <a:ext cx="1863725" cy="50292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817485" y="621665"/>
            <a:ext cx="2651760" cy="1097280"/>
          </a:xfrm>
          <a:prstGeom prst="rect">
            <a:avLst/>
          </a:prstGeom>
          <a:solidFill>
            <a:srgbClr val="002D6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817485" y="621665"/>
            <a:ext cx="109855" cy="1097280"/>
          </a:xfrm>
          <a:prstGeom prst="rect">
            <a:avLst/>
          </a:prstGeom>
          <a:solidFill>
            <a:srgbClr val="9B1B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046085" y="777240"/>
            <a:ext cx="2286000" cy="8350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>
              <a:spcAft>
                <a:spcPts val="800"/>
              </a:spcAft>
            </a:pPr>
            <a:r>
              <a:rPr lang="en-US" altLang="en-US" sz="1200" b="1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RateStats</a:t>
            </a:r>
            <a:endParaRPr lang="en-US" altLang="en-US" sz="1200" b="1">
              <a:solidFill>
                <a:srgbClr val="FFFFFF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ctr">
              <a:spcAft>
                <a:spcPts val="800"/>
              </a:spcAft>
            </a:pPr>
            <a:r>
              <a:rPr lang="en-US" altLang="en-US" sz="1200" b="1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Python + AI</a:t>
            </a:r>
            <a:endParaRPr lang="en-US" altLang="en-US" sz="1200" b="1">
              <a:solidFill>
                <a:srgbClr val="FFFFFF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ctr">
              <a:spcAft>
                <a:spcPts val="800"/>
              </a:spcAft>
            </a:pPr>
            <a:r>
              <a:rPr lang="en-US" altLang="en-US" sz="1200" b="1">
                <a:solidFill>
                  <a:srgbClr val="FFFFFF"/>
                </a:solidFill>
                <a:latin typeface="Calibri" panose="020F0502020204030204" charset="0"/>
                <a:cs typeface="Calibri" panose="020F0502020204030204" charset="0"/>
              </a:rPr>
              <a:t>Search Pipeline</a:t>
            </a:r>
            <a:endParaRPr lang="en-US" altLang="en-US" sz="1200" b="1">
              <a:solidFill>
                <a:srgbClr val="FFFFFF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55905" y="383540"/>
            <a:ext cx="7406640" cy="4762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800"/>
              </a:spcAft>
            </a:pPr>
            <a:r>
              <a:rPr lang="en-US" altLang="en-US" sz="2600" b="1">
                <a:solidFill>
                  <a:srgbClr val="9B1B30"/>
                </a:solidFill>
                <a:latin typeface="Calibri" panose="020F0502020204030204" charset="0"/>
                <a:cs typeface="Calibri" panose="020F0502020204030204" charset="0"/>
              </a:rPr>
              <a:t>RateStats</a:t>
            </a:r>
            <a:endParaRPr lang="en-US" altLang="en-US" sz="2600" b="1">
              <a:solidFill>
                <a:srgbClr val="9B1B30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55905" y="713105"/>
            <a:ext cx="7406640" cy="57848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800"/>
              </a:spcAft>
            </a:pPr>
            <a:r>
              <a:rPr lang="en-US" altLang="en-US" sz="1300" b="1">
                <a:solidFill>
                  <a:srgbClr val="002D62"/>
                </a:solidFill>
                <a:latin typeface="Calibri" panose="020F0502020204030204" charset="0"/>
                <a:cs typeface="Calibri" panose="020F0502020204030204" charset="0"/>
              </a:rPr>
              <a:t>From Manual Rate Collection</a:t>
            </a:r>
            <a:endParaRPr lang="en-US" altLang="en-US" sz="1300" b="1">
              <a:solidFill>
                <a:srgbClr val="002D62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r>
              <a:rPr lang="en-US" altLang="en-US" sz="1300" b="1">
                <a:solidFill>
                  <a:srgbClr val="002D62"/>
                </a:solidFill>
                <a:latin typeface="Calibri" panose="020F0502020204030204" charset="0"/>
                <a:cs typeface="Calibri" panose="020F0502020204030204" charset="0"/>
              </a:rPr>
              <a:t>to Python Automation + AI Search</a:t>
            </a:r>
            <a:endParaRPr lang="en-US" altLang="en-US" sz="1300" b="1">
              <a:solidFill>
                <a:srgbClr val="002D6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55905" y="1334135"/>
            <a:ext cx="7406640" cy="238125"/>
          </a:xfrm>
          <a:prstGeom prst="rect">
            <a:avLst/>
          </a:prstGeom>
          <a:solidFill>
            <a:srgbClr val="D2D2D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47345" y="1309370"/>
            <a:ext cx="7223125" cy="24511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800"/>
              </a:spcAft>
            </a:pPr>
            <a:r>
              <a:rPr lang="en-US" altLang="en-US" sz="1100">
                <a:solidFill>
                  <a:srgbClr val="1C1C1C"/>
                </a:solidFill>
                <a:latin typeface="Calibri" panose="020F0502020204030204" charset="0"/>
                <a:cs typeface="Calibri" panose="020F0502020204030204" charset="0"/>
              </a:rPr>
              <a:t>By: Xu Wenzhe    |    Host: Bank of China Singapore Branch (FinTech)</a:t>
            </a:r>
            <a:endParaRPr lang="en-US" altLang="en-US" sz="1100">
              <a:solidFill>
                <a:srgbClr val="1C1C1C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55905" y="1614805"/>
            <a:ext cx="10194925" cy="3067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800"/>
              </a:spcAft>
            </a:pPr>
            <a:r>
              <a:rPr lang="en-US" altLang="en-US" sz="1500" b="1">
                <a:solidFill>
                  <a:srgbClr val="1C1C1C"/>
                </a:solidFill>
                <a:latin typeface="Calibri" panose="020F0502020204030204" charset="0"/>
                <a:cs typeface="Calibri" panose="020F0502020204030204" charset="0"/>
              </a:rPr>
              <a:t>Introduction</a:t>
            </a:r>
            <a:endParaRPr lang="en-US" altLang="en-US" sz="1500" b="1">
              <a:solidFill>
                <a:srgbClr val="1C1C1C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29870" y="1930400"/>
            <a:ext cx="10194925" cy="9144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800"/>
              </a:spcAft>
            </a:pPr>
            <a:r>
              <a:rPr lang="en-US" altLang="en-US" sz="1200">
                <a:solidFill>
                  <a:srgbClr val="282828"/>
                </a:solidFill>
                <a:latin typeface="Calibri" panose="020F0502020204030204" charset="0"/>
                <a:cs typeface="Calibri" panose="020F0502020204030204" charset="0"/>
              </a:rPr>
              <a:t>Banks need Singapore market deposit and promo rates across ~17 banks (~47 product nodes) for recurring market comparison. The work originally began as fully manual copy-paste of rates into Excel — slow, error-prone, and difficult to schedule. RateStats was built to turn that manual process into a repeatable Python pipeline, then extend it with controlled AI Search for URL discovery and validation.</a:t>
            </a: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74955" y="2676525"/>
            <a:ext cx="10194925" cy="30670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800"/>
              </a:spcAft>
            </a:pPr>
            <a:r>
              <a:rPr lang="en-US" altLang="en-US" sz="1500" b="1">
                <a:solidFill>
                  <a:srgbClr val="1C1C1C"/>
                </a:solidFill>
                <a:latin typeface="Calibri" panose="020F0502020204030204" charset="0"/>
                <a:cs typeface="Calibri" panose="020F0502020204030204" charset="0"/>
              </a:rPr>
              <a:t>Objective</a:t>
            </a:r>
            <a:endParaRPr lang="en-US" altLang="en-US" sz="1500" b="1">
              <a:solidFill>
                <a:srgbClr val="1C1C1C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74955" y="3001518"/>
            <a:ext cx="10194925" cy="91440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800"/>
              </a:spcAft>
            </a:pPr>
            <a:r>
              <a:rPr lang="en-US" altLang="en-US" sz="1200">
                <a:solidFill>
                  <a:srgbClr val="282828"/>
                </a:solidFill>
                <a:latin typeface="Calibri" panose="020F0502020204030204" charset="0"/>
                <a:cs typeface="Calibri" panose="020F0502020204030204" charset="0"/>
              </a:rPr>
              <a:t>1) Build a Python application to fetch and parse bank rate pages (HTML / PDF / API), then generate MarketRateData and Rainbow Excel outputs that business users can run on a schedule.</a:t>
            </a: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r>
              <a:rPr lang="en-US" altLang="en-US" sz="1200">
                <a:solidFill>
                  <a:srgbClr val="282828"/>
                </a:solidFill>
                <a:latin typeface="Calibri" panose="020F0502020204030204" charset="0"/>
                <a:cs typeface="Calibri" panose="020F0502020204030204" charset="0"/>
              </a:rPr>
              <a:t>2) Plug AI Search into the same pipeline to discover and validate source URLs when bank websites change — using controlled AI Search plus hybrid Rules + ML, not unrestricted cloud LLM agents.</a:t>
            </a: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74320" y="4194429"/>
            <a:ext cx="10194925" cy="29146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800"/>
              </a:spcAft>
            </a:pPr>
            <a:r>
              <a:rPr lang="en-US" altLang="en-US" sz="1400" b="1">
                <a:solidFill>
                  <a:srgbClr val="1C1C1C"/>
                </a:solidFill>
                <a:latin typeface="Calibri" panose="020F0502020204030204" charset="0"/>
                <a:cs typeface="Calibri" panose="020F0502020204030204" charset="0"/>
              </a:rPr>
              <a:t>Diagrams / Screenshots — MarketRateData &amp; Rainbow Table</a:t>
            </a:r>
            <a:endParaRPr lang="en-US" altLang="en-US" sz="1400" b="1">
              <a:solidFill>
                <a:srgbClr val="1C1C1C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55270" y="4718304"/>
            <a:ext cx="4996815" cy="2331720"/>
          </a:xfrm>
          <a:prstGeom prst="rect">
            <a:avLst/>
          </a:prstGeom>
          <a:solidFill>
            <a:srgbClr val="ECF0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5453380" y="4718304"/>
            <a:ext cx="4997450" cy="2331720"/>
          </a:xfrm>
          <a:prstGeom prst="rect">
            <a:avLst/>
          </a:prstGeom>
          <a:solidFill>
            <a:srgbClr val="ECF0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 descr="RateDa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15" y="4718304"/>
            <a:ext cx="3691890" cy="2331720"/>
          </a:xfrm>
          <a:prstGeom prst="rect">
            <a:avLst/>
          </a:prstGeom>
        </p:spPr>
      </p:pic>
      <p:pic>
        <p:nvPicPr>
          <p:cNvPr id="21" name="图片 20" descr="rainbowtab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380" y="4957064"/>
            <a:ext cx="4996815" cy="18542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255270" y="7086854"/>
            <a:ext cx="4996815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>
              <a:spcAft>
                <a:spcPts val="800"/>
              </a:spcAft>
            </a:pPr>
            <a:r>
              <a:rPr lang="en-US" altLang="en-US" sz="1000">
                <a:solidFill>
                  <a:srgbClr val="5F5F5F"/>
                </a:solidFill>
                <a:latin typeface="Calibri" panose="020F0502020204030204" charset="0"/>
                <a:cs typeface="Calibri" panose="020F0502020204030204" charset="0"/>
              </a:rPr>
              <a:t>Fig 1. MarketRateData (tenure rates)</a:t>
            </a:r>
            <a:endParaRPr lang="en-US" altLang="en-US" sz="1000">
              <a:solidFill>
                <a:srgbClr val="5F5F5F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453380" y="7086854"/>
            <a:ext cx="4996815" cy="22987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ctr">
              <a:spcAft>
                <a:spcPts val="800"/>
              </a:spcAft>
            </a:pPr>
            <a:r>
              <a:rPr lang="en-US" altLang="en-US" sz="1000">
                <a:solidFill>
                  <a:srgbClr val="5F5F5F"/>
                </a:solidFill>
                <a:latin typeface="Calibri" panose="020F0502020204030204" charset="0"/>
                <a:cs typeface="Calibri" panose="020F0502020204030204" charset="0"/>
              </a:rPr>
              <a:t>Fig 2. Rainbow Table (bank </a:t>
            </a:r>
            <a:r>
              <a:rPr lang="zh-CN" altLang="en-US" sz="1000">
                <a:solidFill>
                  <a:srgbClr val="5F5F5F"/>
                </a:solidFill>
                <a:latin typeface="Calibri" panose="020F0502020204030204" charset="0"/>
                <a:cs typeface="Calibri" panose="020F0502020204030204" charset="0"/>
              </a:rPr>
              <a:t>×</a:t>
            </a:r>
            <a:r>
              <a:rPr lang="en-US" altLang="zh-CN" sz="1000">
                <a:solidFill>
                  <a:srgbClr val="5F5F5F"/>
                </a:solidFill>
                <a:latin typeface="Calibri" panose="020F0502020204030204" charset="0"/>
                <a:cs typeface="Calibri" panose="020F0502020204030204" charset="0"/>
              </a:rPr>
              <a:t> tenure)</a:t>
            </a:r>
            <a:endParaRPr lang="en-US" altLang="zh-CN" sz="1000">
              <a:solidFill>
                <a:srgbClr val="5F5F5F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29235" y="7892669"/>
            <a:ext cx="3324860" cy="4754880"/>
          </a:xfrm>
          <a:prstGeom prst="rect">
            <a:avLst/>
          </a:prstGeom>
          <a:solidFill>
            <a:srgbClr val="ECF0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320675" y="7984109"/>
            <a:ext cx="314198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800"/>
              </a:spcAft>
            </a:pPr>
            <a:r>
              <a:rPr lang="en-US" altLang="en-US" sz="1300" b="1">
                <a:solidFill>
                  <a:srgbClr val="002D62"/>
                </a:solidFill>
                <a:latin typeface="Calibri" panose="020F0502020204030204" charset="0"/>
                <a:cs typeface="Calibri" panose="020F0502020204030204" charset="0"/>
              </a:rPr>
              <a:t>Solutions / Key Features</a:t>
            </a:r>
            <a:endParaRPr lang="en-US" altLang="en-US" sz="1300" b="1">
              <a:solidFill>
                <a:srgbClr val="002D6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20675" y="8331454"/>
            <a:ext cx="3141980" cy="387223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800"/>
              </a:spcAft>
            </a:pPr>
            <a:r>
              <a:rPr lang="en-US" altLang="en-US" sz="1200">
                <a:solidFill>
                  <a:srgbClr val="282828"/>
                </a:solidFill>
                <a:latin typeface="Calibri" panose="020F0502020204030204" charset="0"/>
                <a:cs typeface="Calibri" panose="020F0502020204030204" charset="0"/>
              </a:rPr>
              <a:t>• Python extractors: HTML / PDF / API (HSBC, DBS, OCBC…)</a:t>
            </a: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r>
              <a:rPr lang="en-US" altLang="en-US" sz="1200">
                <a:solidFill>
                  <a:srgbClr val="282828"/>
                </a:solidFill>
                <a:latin typeface="Calibri" panose="020F0502020204030204" charset="0"/>
                <a:cs typeface="Calibri" panose="020F0502020204030204" charset="0"/>
              </a:rPr>
              <a:t>• AI Search (Vertex) proposes candidate URLs</a:t>
            </a: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r>
              <a:rPr lang="en-US" altLang="en-US" sz="1200">
                <a:solidFill>
                  <a:srgbClr val="282828"/>
                </a:solidFill>
                <a:latin typeface="Calibri" panose="020F0502020204030204" charset="0"/>
                <a:cs typeface="Calibri" panose="020F0502020204030204" charset="0"/>
              </a:rPr>
              <a:t>• Hybrid filter: host whitelist + ML ranker (~95% hit)</a:t>
            </a: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r>
              <a:rPr lang="en-US" altLang="en-US" sz="1200">
                <a:solidFill>
                  <a:srgbClr val="282828"/>
                </a:solidFill>
                <a:latin typeface="Calibri" panose="020F0502020204030204" charset="0"/>
                <a:cs typeface="Calibri" panose="020F0502020204030204" charset="0"/>
              </a:rPr>
              <a:t>• Batch + Task Scheduler → dated runs/</a:t>
            </a: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r>
              <a:rPr lang="en-US" altLang="en-US" sz="1200">
                <a:solidFill>
                  <a:srgbClr val="282828"/>
                </a:solidFill>
                <a:latin typeface="Calibri" panose="020F0502020204030204" charset="0"/>
                <a:cs typeface="Calibri" panose="020F0502020204030204" charset="0"/>
              </a:rPr>
              <a:t>• Multi-AI benchmark: Vertex / Serper / Brave / Tavily</a:t>
            </a: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r>
              <a:rPr lang="en-US" altLang="en-US" sz="1200">
                <a:solidFill>
                  <a:srgbClr val="282828"/>
                </a:solidFill>
                <a:latin typeface="Calibri" panose="020F0502020204030204" charset="0"/>
                <a:cs typeface="Calibri" panose="020F0502020204030204" charset="0"/>
              </a:rPr>
              <a:t>• Build order: Manual → Python → AI Search + Rules/ML</a:t>
            </a: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663950" y="7892669"/>
            <a:ext cx="3325495" cy="4754880"/>
          </a:xfrm>
          <a:prstGeom prst="rect">
            <a:avLst/>
          </a:prstGeom>
          <a:solidFill>
            <a:srgbClr val="ECF0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3755390" y="7984109"/>
            <a:ext cx="3141980" cy="27622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800"/>
              </a:spcAft>
            </a:pPr>
            <a:r>
              <a:rPr lang="en-US" altLang="en-US" sz="1300" b="1">
                <a:solidFill>
                  <a:srgbClr val="002D62"/>
                </a:solidFill>
                <a:latin typeface="Calibri" panose="020F0502020204030204" charset="0"/>
                <a:cs typeface="Calibri" panose="020F0502020204030204" charset="0"/>
              </a:rPr>
              <a:t>Challenges, Lessons Learnt</a:t>
            </a:r>
            <a:endParaRPr lang="en-US" altLang="en-US" sz="1300" b="1">
              <a:solidFill>
                <a:srgbClr val="002D6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755390" y="8331454"/>
            <a:ext cx="3141980" cy="3810635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800"/>
              </a:spcAft>
            </a:pPr>
            <a:r>
              <a:rPr lang="en-US" altLang="en-US" sz="1100">
                <a:solidFill>
                  <a:srgbClr val="282828"/>
                </a:solidFill>
                <a:latin typeface="Calibri" panose="020F0502020204030204" charset="0"/>
                <a:cs typeface="Calibri" panose="020F0502020204030204" charset="0"/>
              </a:rPr>
              <a:t>• Challenge: AI returned wrong-bank pages (e.g. ICBC → HLF).</a:t>
            </a:r>
            <a:endParaRPr lang="en-US" altLang="en-US" sz="11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endParaRPr lang="en-US" altLang="en-US" sz="11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r>
              <a:rPr lang="en-US" altLang="en-US" sz="1100">
                <a:solidFill>
                  <a:srgbClr val="282828"/>
                </a:solidFill>
                <a:latin typeface="Calibri" panose="020F0502020204030204" charset="0"/>
                <a:cs typeface="Calibri" panose="020F0502020204030204" charset="0"/>
              </a:rPr>
              <a:t>• Lesson: Domain whitelist before ML; hybrid Rules + ML beats pure AI ranking.</a:t>
            </a:r>
            <a:endParaRPr lang="en-US" altLang="en-US" sz="11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endParaRPr lang="en-US" altLang="en-US" sz="11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r>
              <a:rPr lang="en-US" altLang="en-US" sz="1100">
                <a:solidFill>
                  <a:srgbClr val="282828"/>
                </a:solidFill>
                <a:latin typeface="Calibri" panose="020F0502020204030204" charset="0"/>
                <a:cs typeface="Calibri" panose="020F0502020204030204" charset="0"/>
              </a:rPr>
              <a:t>• Challenge: Same bank, wrong page type (OCBC Premier vs SGD board).</a:t>
            </a:r>
            <a:endParaRPr lang="en-US" altLang="en-US" sz="11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endParaRPr lang="en-US" altLang="en-US" sz="11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r>
              <a:rPr lang="en-US" altLang="en-US" sz="1100">
                <a:solidFill>
                  <a:srgbClr val="282828"/>
                </a:solidFill>
                <a:latin typeface="Calibri" panose="020F0502020204030204" charset="0"/>
                <a:cs typeface="Calibri" panose="020F0502020204030204" charset="0"/>
              </a:rPr>
              <a:t>• Lesson: Hard-reject patterns + hard_negatives.csv.</a:t>
            </a:r>
            <a:endParaRPr lang="en-US" altLang="en-US" sz="11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endParaRPr lang="en-US" altLang="en-US" sz="11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r>
              <a:rPr lang="en-US" altLang="en-US" sz="1100">
                <a:solidFill>
                  <a:srgbClr val="282828"/>
                </a:solidFill>
                <a:latin typeface="Calibri" panose="020F0502020204030204" charset="0"/>
                <a:cs typeface="Calibri" panose="020F0502020204030204" charset="0"/>
              </a:rPr>
              <a:t>• Lesson: Build usable Python product first; plug AI into a real pipeline.</a:t>
            </a:r>
            <a:endParaRPr lang="en-US" altLang="en-US" sz="11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endParaRPr lang="en-US" altLang="en-US" sz="11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r>
              <a:rPr lang="en-US" altLang="en-US" sz="1100">
                <a:solidFill>
                  <a:srgbClr val="282828"/>
                </a:solidFill>
                <a:latin typeface="Calibri" panose="020F0502020204030204" charset="0"/>
                <a:cs typeface="Calibri" panose="020F0502020204030204" charset="0"/>
              </a:rPr>
              <a:t>• Lesson: Controlled AI Search over unrestricted cloud agents.</a:t>
            </a:r>
            <a:endParaRPr lang="en-US" altLang="en-US" sz="11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099300" y="7892669"/>
            <a:ext cx="3325495" cy="4754880"/>
          </a:xfrm>
          <a:prstGeom prst="rect">
            <a:avLst/>
          </a:prstGeom>
          <a:solidFill>
            <a:srgbClr val="ECF0F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7190740" y="7984109"/>
            <a:ext cx="3141980" cy="26035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800"/>
              </a:spcAft>
            </a:pPr>
            <a:r>
              <a:rPr lang="en-US" altLang="en-US" sz="1200" b="1">
                <a:solidFill>
                  <a:srgbClr val="002D62"/>
                </a:solidFill>
                <a:latin typeface="Calibri" panose="020F0502020204030204" charset="0"/>
                <a:cs typeface="Calibri" panose="020F0502020204030204" charset="0"/>
              </a:rPr>
              <a:t>Business Impact &amp; Recommendations</a:t>
            </a:r>
            <a:endParaRPr lang="en-US" altLang="en-US" sz="1200" b="1">
              <a:solidFill>
                <a:srgbClr val="002D62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190740" y="8349869"/>
            <a:ext cx="3141980" cy="272288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800"/>
              </a:spcAft>
            </a:pPr>
            <a:r>
              <a:rPr lang="en-US" altLang="en-US" sz="1200">
                <a:solidFill>
                  <a:srgbClr val="282828"/>
                </a:solidFill>
                <a:latin typeface="Calibri" panose="020F0502020204030204" charset="0"/>
                <a:cs typeface="Calibri" panose="020F0502020204030204" charset="0"/>
              </a:rPr>
              <a:t>• Impact: Manual copy → Python Excel app → less URL hunting with AI (~95% hit).</a:t>
            </a: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r>
              <a:rPr lang="en-US" altLang="en-US" sz="1200">
                <a:solidFill>
                  <a:srgbClr val="282828"/>
                </a:solidFill>
                <a:latin typeface="Calibri" panose="020F0502020204030204" charset="0"/>
                <a:cs typeface="Calibri" panose="020F0502020204030204" charset="0"/>
              </a:rPr>
              <a:t>• Impact: Schedulable MarketRateData / Rainbow for market comparison.</a:t>
            </a: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r>
              <a:rPr lang="en-US" altLang="en-US" sz="1200">
                <a:solidFill>
                  <a:srgbClr val="282828"/>
                </a:solidFill>
                <a:latin typeface="Calibri" panose="020F0502020204030204" charset="0"/>
                <a:cs typeface="Calibri" panose="020F0502020204030204" charset="0"/>
              </a:rPr>
              <a:t>• Recommend: Expand hard_negatives; re-tune picker after each batch.</a:t>
            </a: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r>
              <a:rPr lang="en-US" altLang="en-US" sz="1200">
                <a:solidFill>
                  <a:srgbClr val="282828"/>
                </a:solidFill>
                <a:latin typeface="Calibri" panose="020F0502020204030204" charset="0"/>
                <a:cs typeface="Calibri" panose="020F0502020204030204" charset="0"/>
              </a:rPr>
              <a:t>• Recommend: Scale controlled AI discovery to other external-data monitoring.</a:t>
            </a:r>
            <a:endParaRPr lang="en-US" altLang="en-US" sz="1200">
              <a:solidFill>
                <a:srgbClr val="282828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255905" y="13245085"/>
            <a:ext cx="6949440" cy="516890"/>
          </a:xfrm>
          <a:prstGeom prst="rect">
            <a:avLst/>
          </a:prstGeom>
          <a:noFill/>
        </p:spPr>
        <p:txBody>
          <a:bodyPr wrap="square" lIns="63500" tIns="38100" rIns="63500" bIns="38100" rtlCol="0" anchor="t">
            <a:spAutoFit/>
          </a:bodyPr>
          <a:p>
            <a:pPr algn="l">
              <a:spcAft>
                <a:spcPts val="800"/>
              </a:spcAft>
            </a:pPr>
            <a:r>
              <a:rPr lang="en-US" altLang="en-US" sz="1100">
                <a:solidFill>
                  <a:srgbClr val="5F5F5F"/>
                </a:solidFill>
                <a:latin typeface="Calibri" panose="020F0502020204030204" charset="0"/>
                <a:cs typeface="Calibri" panose="020F0502020204030204" charset="0"/>
              </a:rPr>
              <a:t>Industrial Attachment Project Showcase</a:t>
            </a:r>
            <a:endParaRPr lang="en-US" altLang="en-US" sz="1100">
              <a:solidFill>
                <a:srgbClr val="5F5F5F"/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algn="l">
              <a:spcAft>
                <a:spcPts val="800"/>
              </a:spcAft>
            </a:pPr>
            <a:r>
              <a:rPr lang="en-US" altLang="en-US" sz="1100">
                <a:solidFill>
                  <a:srgbClr val="5F5F5F"/>
                </a:solidFill>
                <a:latin typeface="Calibri" panose="020F0502020204030204" charset="0"/>
                <a:cs typeface="Calibri" panose="020F0502020204030204" charset="0"/>
              </a:rPr>
              <a:t>Bank of China Singapore  ·  Xu Wenzhe</a:t>
            </a:r>
            <a:endParaRPr lang="en-US" altLang="en-US" sz="1100">
              <a:solidFill>
                <a:srgbClr val="5F5F5F"/>
              </a:solidFill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34" name="图片 33" descr="中行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3815" y="13262863"/>
            <a:ext cx="1529080" cy="621665"/>
          </a:xfrm>
          <a:prstGeom prst="rect">
            <a:avLst/>
          </a:prstGeom>
        </p:spPr>
      </p:pic>
      <p:sp>
        <p:nvSpPr>
          <p:cNvPr id="35" name="矩形 34"/>
          <p:cNvSpPr/>
          <p:nvPr/>
        </p:nvSpPr>
        <p:spPr>
          <a:xfrm>
            <a:off x="0" y="14113763"/>
            <a:ext cx="10691495" cy="200660"/>
          </a:xfrm>
          <a:prstGeom prst="rect">
            <a:avLst/>
          </a:prstGeom>
          <a:solidFill>
            <a:srgbClr val="9B1B3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2272</Words>
  <Application>WPS 演示</Application>
  <PresentationFormat>宽屏</PresentationFormat>
  <Paragraphs>69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Administrator</dc:creator>
  <cp:lastModifiedBy>Administrator</cp:lastModifiedBy>
  <cp:revision>161</cp:revision>
  <dcterms:created xsi:type="dcterms:W3CDTF">2019-06-19T02:08:00Z</dcterms:created>
  <dcterms:modified xsi:type="dcterms:W3CDTF">2026-07-25T06:15:48Z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3748493222EA43FE8068CFF1FA86B587_11</vt:lpwstr>
  </property>
</Properties>
</file>