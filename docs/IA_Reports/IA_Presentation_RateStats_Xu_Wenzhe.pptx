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90" d="100"/>
          <a:sy n="90" d="100"/>
        </p:scale>
        <p:origin x="1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 panose="020F0502020204030204"/>
              </a:rPr>
              <a:t>RateStats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D0D8E8"/>
                </a:solidFill>
                <a:latin typeface="Calibri" panose="020F0502020204030204"/>
              </a:rPr>
              <a:t>From Manual Collection → Python Automation → AI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Xu Wenzhe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Bank of China Singapore Branch  ·  Financial Technology Department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 panose="020F0502020204030204"/>
              </a:rPr>
              <a:t>NUS-ISS Industrial Attachment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Project Background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My Project Role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Development Phases — Requirements → Design → Implementation → Testing → Deployment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Project Status</a:t>
            </a:r>
          </a:p>
          <a:p>
            <a:pPr>
              <a:spcAft>
                <a:spcPts val="1000"/>
              </a:spcAft>
            </a:pPr>
            <a:r>
              <a:rPr sz="3200" b="0" dirty="0">
                <a:solidFill>
                  <a:srgbClr val="444444"/>
                </a:solidFill>
                <a:latin typeface="Calibri" panose="020F0502020204030204"/>
              </a:rPr>
              <a:t>•  Business Value &amp; Value Added by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D0D8E8"/>
                </a:solidFill>
                <a:latin typeface="Calibri" panose="020F0502020204030204"/>
              </a:rPr>
              <a:t>How the project evolved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Business need: collect deposit / promo rates across ~17 Singapore banks (~47 rate nodes)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0 — Fully manual: staff open bank sites, copy rates, maintain Excel by hand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1 — Python app I built: fetch / parse / generate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MarketRateData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+ Rainbow Excel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(URLs still fed manually via url_params.xlsx — fragile when banks re</a:t>
            </a:r>
            <a:r>
              <a:rPr lang="en-US" altLang="zh-CN" sz="2400" b="0" dirty="0">
                <a:solidFill>
                  <a:srgbClr val="444444"/>
                </a:solidFill>
                <a:latin typeface="Calibri" panose="020F0502020204030204"/>
              </a:rPr>
              <a:t>construct their website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Stage 2 — Add AI Search into that pipeline: discover URLs → validate → reuse existing parsers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Constraint: controlled AI (search + scoring) — not unrestricted cloud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My Project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Built the Python product first · then added AI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Started as Python developer: turn a manual rate-collection job into a working application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Built extractors (HTML / PDF / API) and Excel outputs business users actually run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Then extended the same pipeline with AI URL discovery (Vertex + provider benchmarks)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Added hybrid URL selection: domain rules + ML ranker when AI candidates are ambiguous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Packaged batch runs, URL health checks, scheduled output under runs/YYYYMMDD/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•  Also supported RPA ops bots — today’s focus is </a:t>
            </a:r>
            <a:r>
              <a:rPr sz="2000" b="0" dirty="0" err="1">
                <a:solidFill>
                  <a:srgbClr val="444444"/>
                </a:solidFill>
                <a:latin typeface="Calibri" panose="020F0502020204030204"/>
              </a:rPr>
              <a:t>RateStats</a:t>
            </a:r>
            <a:r>
              <a:rPr sz="2000" b="0" dirty="0">
                <a:solidFill>
                  <a:srgbClr val="444444"/>
                </a:solidFill>
                <a:latin typeface="Calibri" panose="020F0502020204030204"/>
              </a:rPr>
              <a:t>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667" y="1691485"/>
            <a:ext cx="5753021" cy="34750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Development Phases — Requirements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Python foundation → AI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35" y="1584905"/>
            <a:ext cx="548640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A (Python): automate fetch + parse + Excel — replace hand-copying of rates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A still needed: reliable bank parsers (HTML DOM, PDF tables, JSON APIs)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B (AI): stop hand-feeding every URL — search latest pages per destination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Phase B also: reject wrong links (wrong bank / Premier vs board / PDF vs HTML)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Final design: AI Discovery + Scoring plugged into the existing Extract &amp; Output engine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444444"/>
                </a:solidFill>
                <a:latin typeface="Calibri" panose="020F0502020204030204"/>
              </a:rPr>
              <a:t>•  Scenario: ICBC needs SGD board/promo + FCY board/promo — same pattern × ~17 banks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Implementation — 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AI Search added on top of the Python extract/output I built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1. Discover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AI Search*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candidate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2. Score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Rules + ML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host whitelist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3. Extract*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HTML / PDF / API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Python parsers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737360"/>
            <a:ext cx="237744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 panose="020F0502020204030204"/>
              </a:rPr>
              <a:t>4. Output*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MarketRateData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 panose="020F0502020204030204"/>
              </a:rPr>
              <a:t>+ Rainbow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* Steps 3–4 existed first as a Python application; Steps 1–2 were added later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Key modules: bank_fetch_and_extract.py · bank_extractors/ · then vertex_url_discovery.py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url_host_rules.py · url_discovery_pick.py · RateStats_ML/picker.py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Challenge: AI returns HLF for ICBC → domain whitelist before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Testing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How we know it works · how it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compare AI-picked URLs vs manual golden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urls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in url_params.xlsx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picker_eval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reports · multi-provider benchmark (Vertex /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Serper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 / Brave / </a:t>
            </a:r>
            <a:r>
              <a:rPr sz="2400" b="0" dirty="0" err="1">
                <a:solidFill>
                  <a:srgbClr val="444444"/>
                </a:solidFill>
                <a:latin typeface="Calibri" panose="020F0502020204030204"/>
              </a:rPr>
              <a:t>Tavily</a:t>
            </a: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Testing: URL health checks (status / redirect) before scheduled runs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Deployment: batch scripts + Windows Task Scheduler → dated runs/YYYYMMDD/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444444"/>
                </a:solidFill>
                <a:latin typeface="Calibri" panose="020F0502020204030204"/>
              </a:rPr>
              <a:t>•  Deliverables: MarketRateData_*.xlsx + Rainbow Table Excel for business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3441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/>
              </a:rPr>
              <a:t>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11</a:t>
            </a:r>
          </a:p>
        </p:txBody>
      </p:sp>
      <p:pic>
        <p:nvPicPr>
          <p:cNvPr id="10" name="图片 9" descr="Rate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5" y="1475105"/>
            <a:ext cx="5464175" cy="34505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1345" y="5144770"/>
            <a:ext cx="255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RateData-From website</a:t>
            </a:r>
          </a:p>
        </p:txBody>
      </p:sp>
      <p:pic>
        <p:nvPicPr>
          <p:cNvPr id="13" name="图片 12" descr="rainbowtable"/>
          <p:cNvPicPr>
            <a:picLocks noChangeAspect="1"/>
          </p:cNvPicPr>
          <p:nvPr/>
        </p:nvPicPr>
        <p:blipFill>
          <a:blip r:embed="rId3"/>
          <a:srcRect l="21056"/>
          <a:stretch>
            <a:fillRect/>
          </a:stretch>
        </p:blipFill>
        <p:spPr>
          <a:xfrm>
            <a:off x="6316345" y="2029460"/>
            <a:ext cx="5561965" cy="261429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015605" y="5144770"/>
            <a:ext cx="3224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Rainbow Table-From RateData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C = Completed · I =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Python extraction (HTML / PDF / API) — Production (C)  [built first]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Batch pipeline + Excel (</a:t>
            </a:r>
            <a:r>
              <a:rPr sz="2800" b="0" dirty="0" err="1">
                <a:solidFill>
                  <a:srgbClr val="444444"/>
                </a:solidFill>
                <a:latin typeface="Calibri" panose="020F0502020204030204"/>
              </a:rPr>
              <a:t>MarketRateData</a:t>
            </a: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 / Rainbow)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AI URL Discovery (Vertex) — Production (C)  [added into the flow]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Rule-based scoring &amp; host validation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Multi-AI benchmarking module — Production (C)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ML hybrid URL ranker — Integration done; production tuning ongoing (I)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Business Value — 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Emphasize tangible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2120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AA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21208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A5555"/>
                </a:solidFill>
                <a:latin typeface="Calibri" panose="020F0502020204030204"/>
              </a:rPr>
              <a:t>BEFORE (Manual)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Fully manual: open sites, copy rates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Heavy manpower on ~47 rate nodes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Easy to miss updates / typos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444444"/>
                </a:solidFill>
                <a:latin typeface="Calibri" panose="020F0502020204030204"/>
              </a:rPr>
              <a:t>•  No reusable application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75488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2E7D4F"/>
                </a:solidFill>
                <a:latin typeface="Calibri" panose="020F0502020204030204"/>
              </a:rPr>
              <a:t>AFTER (Python + AI)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Python app: fetch / parse → Excel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AI Search finds URLs; rules/ML check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Scheduled runs; fewer missing rows</a:t>
            </a:r>
          </a:p>
          <a:p>
            <a:pPr>
              <a:spcBef>
                <a:spcPts val="1000"/>
              </a:spcBef>
            </a:pPr>
            <a:r>
              <a:rPr sz="1500" b="0" dirty="0">
                <a:solidFill>
                  <a:srgbClr val="444444"/>
                </a:solidFill>
                <a:latin typeface="Calibri" panose="020F0502020204030204"/>
              </a:rPr>
              <a:t>•  ~95% URL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 panose="020F0502020204030204"/>
              </a:rPr>
              <a:t>Value Added by the Intern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 panose="020F0502020204030204"/>
              </a:rPr>
              <a:t>Beyond coding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Delivered a usable Python product first — not only a research prototype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Grew it from scripts to a schedulable application business users can run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Then plugged AI Search into that real pipeline (not a separate demo)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Designed hybrid rules + ML when pure AI candidates were wrong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444444"/>
                </a:solidFill>
                <a:latin typeface="Calibri" panose="020F0502020204030204"/>
              </a:rPr>
              <a:t>•  </a:t>
            </a:r>
            <a:r>
              <a:rPr lang="en-US" sz="2800" b="0" dirty="0">
                <a:solidFill>
                  <a:srgbClr val="444444"/>
                </a:solidFill>
                <a:latin typeface="Calibri" panose="020F0502020204030204"/>
              </a:rPr>
              <a:t>Some mistakes are made with the change of standard of deposits, which causes some problems about the data fetch, and still need to be fixed</a:t>
            </a:r>
            <a:endParaRPr sz="2800" b="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69469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Calibri" panose="020F0502020204030204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Journey: fully manual → Python automation (extract/Excel) → AI Search in the same flow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AI is an extension of a working application — not the starting point</a:t>
            </a: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Hybrid Rules + ML keeps URL accuracy high (~95%) under bank security constraints</a:t>
            </a: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rgbClr val="444444"/>
                </a:solidFill>
              </a:rPr>
              <a:t>• </a:t>
            </a:r>
            <a:r>
              <a:rPr lang="en-US" dirty="0">
                <a:solidFill>
                  <a:srgbClr val="444444"/>
                </a:solidFill>
                <a:latin typeface="Calibri" panose="020F0502020204030204"/>
              </a:rPr>
              <a:t>The data hitting is about 90%, the fault mainly comes from the wrong URL choosing, some of them comes from the change of standard of deposits.</a:t>
            </a:r>
            <a:endParaRPr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Calibri" panose="020F0502020204030204"/>
              </a:rPr>
              <a:t>•  Business impact: less manpower, more reliable market-rate Excel</a:t>
            </a: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 algn="ctr">
              <a:spcAft>
                <a:spcPts val="1000"/>
              </a:spcAft>
            </a:pPr>
            <a:r>
              <a:rPr lang="en-US" sz="3200" dirty="0">
                <a:solidFill>
                  <a:srgbClr val="444444"/>
                </a:solidFill>
                <a:latin typeface="Calibri" panose="020F0502020204030204"/>
              </a:rPr>
              <a:t>Thanks!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/>
          <p:cNvSpPr txBox="1"/>
          <p:nvPr/>
        </p:nvSpPr>
        <p:spPr>
          <a:xfrm>
            <a:off x="457200" y="228600"/>
            <a:ext cx="8515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libri" panose="020F0502020204030204"/>
              </a:rPr>
              <a:t>Q&amp;A</a:t>
            </a:r>
            <a:endParaRPr sz="2600" b="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609447" y="2731373"/>
            <a:ext cx="1097280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endParaRPr lang="en-US" dirty="0">
              <a:solidFill>
                <a:srgbClr val="444444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</a:pPr>
            <a:endParaRPr lang="en-US" sz="1800" b="0" dirty="0">
              <a:solidFill>
                <a:srgbClr val="444444"/>
              </a:solidFill>
              <a:latin typeface="Calibri" panose="020F0502020204030204"/>
            </a:endParaRPr>
          </a:p>
          <a:p>
            <a:pPr algn="ctr">
              <a:spcAft>
                <a:spcPts val="1000"/>
              </a:spcAft>
            </a:pPr>
            <a:r>
              <a:rPr lang="en-US" sz="3200" dirty="0">
                <a:solidFill>
                  <a:srgbClr val="444444"/>
                </a:solidFill>
                <a:latin typeface="Calibri" panose="020F0502020204030204"/>
              </a:rPr>
              <a:t>Thanks!</a:t>
            </a:r>
          </a:p>
        </p:txBody>
      </p:sp>
      <p:sp>
        <p:nvSpPr>
          <p:cNvPr id="11" name="TextBox 5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 panose="020F0502020204030204"/>
              </a:rPr>
              <a:t>RateStats  |  Bank of China Singapore  |  Xu Wenzhe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11388208" y="630936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888888"/>
                </a:solidFill>
                <a:latin typeface="Calibri" panose="020F0502020204030204"/>
              </a:rPr>
              <a:t>1</a:t>
            </a:r>
            <a:r>
              <a:rPr lang="en-US" sz="1000" b="0" dirty="0">
                <a:solidFill>
                  <a:srgbClr val="888888"/>
                </a:solidFill>
                <a:latin typeface="Calibri" panose="020F0502020204030204"/>
              </a:rPr>
              <a:t>3</a:t>
            </a:r>
            <a:endParaRPr sz="1000" b="0" dirty="0">
              <a:solidFill>
                <a:srgbClr val="88888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1117</Words>
  <Application>Microsoft Office PowerPoint</Application>
  <PresentationFormat>宽屏</PresentationFormat>
  <Paragraphs>130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Xu Wenzhe</cp:lastModifiedBy>
  <cp:revision>12</cp:revision>
  <dcterms:created xsi:type="dcterms:W3CDTF">2013-01-27T09:14:00Z</dcterms:created>
  <dcterms:modified xsi:type="dcterms:W3CDTF">2026-07-29T17:28:51Z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0E3E8B126D8747C9AA0A0185A8624892_12</vt:lpwstr>
  </property>
</Properties>
</file>