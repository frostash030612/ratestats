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 showGuides="1">
      <p:cViewPr varScale="1">
        <p:scale>
          <a:sx n="90" d="100"/>
          <a:sy n="90" d="100"/>
        </p:scale>
        <p:origin x="1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73152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 panose="020F0502020204030204"/>
              </a:rPr>
              <a:t>RateStats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D0D8E8"/>
                </a:solidFill>
                <a:latin typeface="Calibri" panose="020F0502020204030204"/>
              </a:rPr>
              <a:t>From Manual Collection → Python Automation → AI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8D0E0"/>
                </a:solidFill>
                <a:latin typeface="Calibri" panose="020F0502020204030204"/>
              </a:rPr>
              <a:t>Xu Wenzhe</a:t>
            </a:r>
          </a:p>
          <a:p>
            <a:pPr algn="ctr"/>
            <a:r>
              <a:rPr sz="1600" b="0">
                <a:solidFill>
                  <a:srgbClr val="C8D0E0"/>
                </a:solidFill>
                <a:latin typeface="Calibri" panose="020F0502020204030204"/>
              </a:rPr>
              <a:t>Bank of China Singapore Branch  ·  Financial Technology Department</a:t>
            </a:r>
          </a:p>
          <a:p>
            <a:pPr algn="ctr"/>
            <a:r>
              <a:rPr sz="1600" b="0">
                <a:solidFill>
                  <a:srgbClr val="C8D0E0"/>
                </a:solidFill>
                <a:latin typeface="Calibri" panose="020F0502020204030204"/>
              </a:rPr>
              <a:t>NUS-ISS Industrial Attachment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0" dirty="0">
                <a:solidFill>
                  <a:srgbClr val="444444"/>
                </a:solidFill>
                <a:latin typeface="Calibri" panose="020F0502020204030204"/>
              </a:rPr>
              <a:t>•  Project Background</a:t>
            </a:r>
          </a:p>
          <a:p>
            <a:pPr>
              <a:spcAft>
                <a:spcPts val="1000"/>
              </a:spcAft>
            </a:pPr>
            <a:r>
              <a:rPr sz="3200" b="0" dirty="0">
                <a:solidFill>
                  <a:srgbClr val="444444"/>
                </a:solidFill>
                <a:latin typeface="Calibri" panose="020F0502020204030204"/>
              </a:rPr>
              <a:t>•  My Project Role</a:t>
            </a:r>
          </a:p>
          <a:p>
            <a:pPr>
              <a:spcAft>
                <a:spcPts val="1000"/>
              </a:spcAft>
            </a:pPr>
            <a:r>
              <a:rPr sz="3200" b="0" dirty="0">
                <a:solidFill>
                  <a:srgbClr val="444444"/>
                </a:solidFill>
                <a:latin typeface="Calibri" panose="020F0502020204030204"/>
              </a:rPr>
              <a:t>•  Development Phases — Requirements → Design → Implementation → Testing → Deployment</a:t>
            </a:r>
          </a:p>
          <a:p>
            <a:pPr>
              <a:spcAft>
                <a:spcPts val="1000"/>
              </a:spcAft>
            </a:pPr>
            <a:r>
              <a:rPr sz="3200" b="0" dirty="0">
                <a:solidFill>
                  <a:srgbClr val="444444"/>
                </a:solidFill>
                <a:latin typeface="Calibri" panose="020F0502020204030204"/>
              </a:rPr>
              <a:t>•  Project Status</a:t>
            </a:r>
          </a:p>
          <a:p>
            <a:pPr>
              <a:spcAft>
                <a:spcPts val="1000"/>
              </a:spcAft>
            </a:pPr>
            <a:r>
              <a:rPr sz="3200" b="0" dirty="0">
                <a:solidFill>
                  <a:srgbClr val="444444"/>
                </a:solidFill>
                <a:latin typeface="Calibri" panose="020F0502020204030204"/>
              </a:rPr>
              <a:t>•  Business Value &amp; Value Added by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Project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dirty="0">
                <a:solidFill>
                  <a:srgbClr val="D0D8E8"/>
                </a:solidFill>
                <a:latin typeface="Calibri" panose="020F0502020204030204"/>
              </a:rPr>
              <a:t>How the project evolved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Business need: collect deposit / promo rates across ~17 Singapore banks (~47 rate nodes)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Stage 0 — Fully manual: staff open bank sites, copy rates, maintain Excel by hand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Stage 1 — Python app I built: fetch / parse / generate </a:t>
            </a:r>
            <a:r>
              <a:rPr sz="2400" b="0" dirty="0" err="1">
                <a:solidFill>
                  <a:srgbClr val="444444"/>
                </a:solidFill>
                <a:latin typeface="Calibri" panose="020F0502020204030204"/>
              </a:rPr>
              <a:t>MarketRateData</a:t>
            </a: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 + Rainbow Excel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(URLs still fed manually via url_params.xlsx — fragile when banks re</a:t>
            </a:r>
            <a:r>
              <a:rPr lang="en-US" altLang="zh-CN" sz="2400" b="0" dirty="0">
                <a:solidFill>
                  <a:srgbClr val="444444"/>
                </a:solidFill>
                <a:latin typeface="Calibri" panose="020F0502020204030204"/>
              </a:rPr>
              <a:t>construct their website</a:t>
            </a: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)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Stage 2 — Add AI Search into that pipeline: discover URLs → validate → reuse existing parsers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Constraint: controlled AI (search + scoring) — not unrestricted cloud LLM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My Project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Built the Python product first · then added AI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447" y="2253827"/>
            <a:ext cx="1097280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•  Started as Python developer: turn a manual rate-collection job into a working application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•  Built extractors (HTML / PDF / API) and Excel outputs business users actually run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•  Then extended the same pipeline with AI URL discovery (Vertex + provider benchmarks)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•  Added hybrid URL selection: domain rules + ML ranker when AI candidates are ambiguous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•  Packaged batch runs, URL health checks, scheduled output under runs/YYYYMMDD/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•  Also supported RPA ops bots — today’s focus is </a:t>
            </a:r>
            <a:r>
              <a:rPr sz="2000" b="0" dirty="0" err="1">
                <a:solidFill>
                  <a:srgbClr val="444444"/>
                </a:solidFill>
                <a:latin typeface="Calibri" panose="020F0502020204030204"/>
              </a:rPr>
              <a:t>RateStats</a:t>
            </a: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667" y="1691485"/>
            <a:ext cx="5753021" cy="347502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Development Phases — Requirements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Python foundation → AI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735" y="1584905"/>
            <a:ext cx="5486400" cy="3688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444444"/>
                </a:solidFill>
                <a:latin typeface="Calibri" panose="020F0502020204030204"/>
              </a:rPr>
              <a:t>•  Phase A (Python): automate fetch + parse + Excel — replace hand-copying of rates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444444"/>
                </a:solidFill>
                <a:latin typeface="Calibri" panose="020F0502020204030204"/>
              </a:rPr>
              <a:t>•  Phase A still needed: reliable bank parsers (HTML DOM, PDF tables, JSON APIs)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444444"/>
                </a:solidFill>
                <a:latin typeface="Calibri" panose="020F0502020204030204"/>
              </a:rPr>
              <a:t>•  Phase B (AI): stop hand-feeding every URL — search latest pages per destination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444444"/>
                </a:solidFill>
                <a:latin typeface="Calibri" panose="020F0502020204030204"/>
              </a:rPr>
              <a:t>•  Phase B also: reject wrong links (wrong bank / Premier vs board / PDF vs HTML)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444444"/>
                </a:solidFill>
                <a:latin typeface="Calibri" panose="020F0502020204030204"/>
              </a:rPr>
              <a:t>•  Final design: AI Discovery + Scoring plugged into the existing Extract &amp; Output engine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444444"/>
                </a:solidFill>
                <a:latin typeface="Calibri" panose="020F0502020204030204"/>
              </a:rPr>
              <a:t>•  Scenario: ICBC needs SGD board/promo + FCY board/promo — same pattern × ~17 banks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Implementation — End-to-End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AI Search added on top of the Python extract/output I built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237744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5E"/>
                </a:solidFill>
                <a:latin typeface="Calibri" panose="020F0502020204030204"/>
              </a:rPr>
              <a:t>1. Discover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AI Search*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candidate URLs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25603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88A2E"/>
                </a:solidFill>
                <a:latin typeface="Calibri" panose="020F0502020204030204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737360"/>
            <a:ext cx="237744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5E"/>
                </a:solidFill>
                <a:latin typeface="Calibri" panose="020F0502020204030204"/>
              </a:rPr>
              <a:t>2. Score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Rules + ML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host whitelist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25603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88A2E"/>
                </a:solidFill>
                <a:latin typeface="Calibri" panose="020F0502020204030204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237744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5E"/>
                </a:solidFill>
                <a:latin typeface="Calibri" panose="020F0502020204030204"/>
              </a:rPr>
              <a:t>3. Extract*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HTML / PDF / API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Python parsers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25603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88A2E"/>
                </a:solidFill>
                <a:latin typeface="Calibri" panose="020F0502020204030204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737360"/>
            <a:ext cx="237744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5E"/>
                </a:solidFill>
                <a:latin typeface="Calibri" panose="020F0502020204030204"/>
              </a:rPr>
              <a:t>4. Output*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MarketRateData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+ Rainbow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28002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* Steps 3–4 existed first as a Python application; Steps 1–2 were added 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6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544F38E-F6FA-96A9-7707-1D99820A4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675" y="4114800"/>
            <a:ext cx="1950889" cy="87637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A5AEAEE-FA54-8056-FD47-9F662DE8D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16" y="3916101"/>
            <a:ext cx="1886928" cy="172905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DF5D70A-F176-67E6-9AA6-B50A86F85C02}"/>
              </a:ext>
            </a:extLst>
          </p:cNvPr>
          <p:cNvPicPr>
            <a:picLocks/>
          </p:cNvPicPr>
          <p:nvPr/>
        </p:nvPicPr>
        <p:blipFill>
          <a:blip r:embed="rId4"/>
          <a:srcRect r="24090"/>
          <a:stretch>
            <a:fillRect/>
          </a:stretch>
        </p:blipFill>
        <p:spPr>
          <a:xfrm>
            <a:off x="3378708" y="4294936"/>
            <a:ext cx="2717292" cy="93752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70FAC539-7DB4-A72D-CD0C-565173B7B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50923"/>
            <a:ext cx="2365640" cy="17027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Testing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How we know it works · how it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Testing: compare AI-picked URLs vs manual golden </a:t>
            </a:r>
            <a:r>
              <a:rPr sz="2400" b="0" dirty="0" err="1">
                <a:solidFill>
                  <a:srgbClr val="444444"/>
                </a:solidFill>
                <a:latin typeface="Calibri" panose="020F0502020204030204"/>
              </a:rPr>
              <a:t>urls</a:t>
            </a: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 in url_params.xlsx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Testing: </a:t>
            </a:r>
            <a:r>
              <a:rPr sz="2400" b="0" dirty="0" err="1">
                <a:solidFill>
                  <a:srgbClr val="444444"/>
                </a:solidFill>
                <a:latin typeface="Calibri" panose="020F0502020204030204"/>
              </a:rPr>
              <a:t>picker_eval</a:t>
            </a: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 reports · multi-provider benchmark (Vertex / </a:t>
            </a:r>
            <a:r>
              <a:rPr sz="2400" b="0" dirty="0" err="1">
                <a:solidFill>
                  <a:srgbClr val="444444"/>
                </a:solidFill>
                <a:latin typeface="Calibri" panose="020F0502020204030204"/>
              </a:rPr>
              <a:t>Serper</a:t>
            </a: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 / Brave / </a:t>
            </a:r>
            <a:r>
              <a:rPr sz="2400" b="0" dirty="0" err="1">
                <a:solidFill>
                  <a:srgbClr val="444444"/>
                </a:solidFill>
                <a:latin typeface="Calibri" panose="020F0502020204030204"/>
              </a:rPr>
              <a:t>Tavily</a:t>
            </a: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)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Testing: URL health checks (status / redirect) before scheduled runs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Deployment: batch scripts + Windows Task Scheduler → dated runs/YYYYMMDD/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Deliverables: MarketRateData_*.xlsx + Rainbow Table Excel for business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7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F47BC6E-58B4-6529-521F-CF8B9EA5E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25904"/>
            <a:ext cx="4065117" cy="73391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ED56A59-A31C-EB29-7121-2210DD1239A5}"/>
              </a:ext>
            </a:extLst>
          </p:cNvPr>
          <p:cNvSpPr txBox="1"/>
          <p:nvPr/>
        </p:nvSpPr>
        <p:spPr>
          <a:xfrm>
            <a:off x="1140226" y="5012791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AI search engine compare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82C3184-2940-9A33-D9E7-9FA3CDE79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26" y="5435095"/>
            <a:ext cx="2484335" cy="38865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C54AA74-9381-60BC-EF33-7EF59E0C31B4}"/>
              </a:ext>
            </a:extLst>
          </p:cNvPr>
          <p:cNvSpPr txBox="1"/>
          <p:nvPr/>
        </p:nvSpPr>
        <p:spPr>
          <a:xfrm>
            <a:off x="1585067" y="5851084"/>
            <a:ext cx="193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URL health check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DAE1ECC-9AA1-82F8-DBCF-D48562496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680" y="4202359"/>
            <a:ext cx="2484334" cy="210700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47B4213-6E74-2EC1-C8BB-FAD57B869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058" y="4190389"/>
            <a:ext cx="2776541" cy="160597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7B4B351-1ED9-9C88-4FAD-D621FA78F058}"/>
              </a:ext>
            </a:extLst>
          </p:cNvPr>
          <p:cNvSpPr txBox="1"/>
          <p:nvPr/>
        </p:nvSpPr>
        <p:spPr>
          <a:xfrm>
            <a:off x="7730067" y="6036733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Task scheduler(</a:t>
            </a:r>
            <a:r>
              <a:rPr lang="en-US" altLang="zh-CN" dirty="0" err="1"/>
              <a:t>email&amp;run</a:t>
            </a:r>
            <a:r>
              <a:rPr lang="en-US" altLang="zh-CN" dirty="0"/>
              <a:t> time)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3441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/>
              </a:rPr>
              <a:t>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11</a:t>
            </a:r>
          </a:p>
        </p:txBody>
      </p:sp>
      <p:pic>
        <p:nvPicPr>
          <p:cNvPr id="10" name="图片 9" descr="RateDa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65" y="1475105"/>
            <a:ext cx="5464175" cy="34505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871345" y="5144770"/>
            <a:ext cx="2558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RateData-From website</a:t>
            </a:r>
          </a:p>
        </p:txBody>
      </p:sp>
      <p:pic>
        <p:nvPicPr>
          <p:cNvPr id="13" name="图片 12" descr="rainbowtable"/>
          <p:cNvPicPr>
            <a:picLocks noChangeAspect="1"/>
          </p:cNvPicPr>
          <p:nvPr/>
        </p:nvPicPr>
        <p:blipFill>
          <a:blip r:embed="rId3"/>
          <a:srcRect l="21056"/>
          <a:stretch>
            <a:fillRect/>
          </a:stretch>
        </p:blipFill>
        <p:spPr>
          <a:xfrm>
            <a:off x="6316345" y="2029460"/>
            <a:ext cx="5561965" cy="261429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015605" y="5144770"/>
            <a:ext cx="3224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Rainbow Table-From RateData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C = Completed · I = 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Python extraction (HTML / PDF / API) — Production (C)  [built first]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Batch pipeline + Excel (</a:t>
            </a:r>
            <a:r>
              <a:rPr sz="2800" b="0" dirty="0" err="1">
                <a:solidFill>
                  <a:srgbClr val="444444"/>
                </a:solidFill>
                <a:latin typeface="Calibri" panose="020F0502020204030204"/>
              </a:rPr>
              <a:t>MarketRateData</a:t>
            </a: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 / Rainbow) — Production (C)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AI URL Discovery (Vertex) — Production (C)  [added into the flow]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Rule-based scoring &amp; host validation — Production (C)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Multi-AI benchmarking module — Production (C)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ML hybrid URL ranker — Integration done; production tuning ongoing (I)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Business Value — Before vs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Emphasize tangible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21208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AA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21208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75488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AA5555"/>
                </a:solidFill>
                <a:latin typeface="Calibri" panose="020F0502020204030204"/>
              </a:rPr>
              <a:t>BEFORE (Manual)</a:t>
            </a:r>
          </a:p>
          <a:p>
            <a:pPr>
              <a:spcBef>
                <a:spcPts val="1000"/>
              </a:spcBef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Fully manual: open sites, copy rates</a:t>
            </a:r>
          </a:p>
          <a:p>
            <a:pPr>
              <a:spcBef>
                <a:spcPts val="1000"/>
              </a:spcBef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Heavy manpower on ~47 rate nodes</a:t>
            </a:r>
          </a:p>
          <a:p>
            <a:pPr>
              <a:spcBef>
                <a:spcPts val="1000"/>
              </a:spcBef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Easy to miss updates / typos</a:t>
            </a:r>
          </a:p>
          <a:p>
            <a:pPr>
              <a:spcBef>
                <a:spcPts val="1000"/>
              </a:spcBef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No reusable application pipeline</a:t>
            </a:r>
            <a:endParaRPr lang="en-US" sz="1500" b="0" dirty="0">
              <a:solidFill>
                <a:srgbClr val="444444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</a:pPr>
            <a:r>
              <a:rPr lang="en-US" altLang="zh-CN" sz="1500" dirty="0">
                <a:solidFill>
                  <a:srgbClr val="444444"/>
                </a:solidFill>
              </a:rPr>
              <a:t>•  Needs about an hour to collect and make Excel</a:t>
            </a:r>
            <a:endParaRPr sz="1500" b="0" dirty="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75488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2E7D4F"/>
                </a:solidFill>
                <a:latin typeface="Calibri" panose="020F0502020204030204"/>
              </a:rPr>
              <a:t>AFTER (Python + AI)</a:t>
            </a:r>
          </a:p>
          <a:p>
            <a:pPr>
              <a:spcBef>
                <a:spcPts val="1000"/>
              </a:spcBef>
            </a:pPr>
            <a:r>
              <a:rPr lang="en-US" altLang="zh-CN" sz="1500" dirty="0">
                <a:solidFill>
                  <a:srgbClr val="444444"/>
                </a:solidFill>
              </a:rPr>
              <a:t>•  The first AI project in BOC</a:t>
            </a:r>
            <a:endParaRPr lang="en-US" sz="1500" b="0" dirty="0">
              <a:solidFill>
                <a:srgbClr val="444444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Python app: fetch / parse → Excel</a:t>
            </a:r>
          </a:p>
          <a:p>
            <a:pPr>
              <a:spcBef>
                <a:spcPts val="1000"/>
              </a:spcBef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AI Search finds URLs; rules/ML check</a:t>
            </a:r>
          </a:p>
          <a:p>
            <a:pPr>
              <a:spcBef>
                <a:spcPts val="1000"/>
              </a:spcBef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Scheduled runs; fewer missing rows</a:t>
            </a:r>
          </a:p>
          <a:p>
            <a:pPr>
              <a:spcBef>
                <a:spcPts val="1000"/>
              </a:spcBef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~95% URL hit</a:t>
            </a:r>
            <a:r>
              <a:rPr lang="en-US" sz="1500" b="0" dirty="0">
                <a:solidFill>
                  <a:srgbClr val="444444"/>
                </a:solidFill>
                <a:latin typeface="Calibri" panose="020F0502020204030204"/>
              </a:rPr>
              <a:t>, just need to check the wrong links</a:t>
            </a:r>
          </a:p>
          <a:p>
            <a:pPr>
              <a:spcBef>
                <a:spcPts val="1000"/>
              </a:spcBef>
            </a:pPr>
            <a:r>
              <a:rPr lang="en-US" altLang="zh-CN" sz="1500" dirty="0">
                <a:solidFill>
                  <a:srgbClr val="444444"/>
                </a:solidFill>
              </a:rPr>
              <a:t>•   Only 5 mins for running the script and 15 mins for checking</a:t>
            </a:r>
            <a:endParaRPr sz="1500" b="0" dirty="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7524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Calibri" panose="020F0502020204030204"/>
              </a:rPr>
              <a:t>Value </a:t>
            </a:r>
            <a:r>
              <a:rPr lang="en-US" sz="2600" b="1" dirty="0">
                <a:solidFill>
                  <a:srgbClr val="FFFFFF"/>
                </a:solidFill>
                <a:latin typeface="Calibri" panose="020F0502020204030204"/>
              </a:rPr>
              <a:t>of </a:t>
            </a:r>
            <a:r>
              <a:rPr sz="2600" b="1" dirty="0">
                <a:solidFill>
                  <a:srgbClr val="FFFFFF"/>
                </a:solidFill>
                <a:latin typeface="Calibri" panose="020F0502020204030204"/>
              </a:rPr>
              <a:t>the Intern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Delivered a usable Python product first — not only a research prototype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Grew it from scripts to a schedulable application business users can run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Then plugged AI Search into that real pipeline (not a separate demo)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Designed hybrid rules + ML when pure AI candidates were wrong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</a:t>
            </a:r>
            <a:r>
              <a:rPr lang="en-US" sz="2800" b="0" dirty="0">
                <a:solidFill>
                  <a:srgbClr val="444444"/>
                </a:solidFill>
                <a:latin typeface="Calibri" panose="020F0502020204030204"/>
              </a:rPr>
              <a:t>Some mistakes are made with the change of standard of deposits, which causes some problems about the data fetch, and still need to be fixed</a:t>
            </a:r>
            <a:endParaRPr sz="2800" b="0" dirty="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69469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Calibri" panose="020F0502020204030204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36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dirty="0">
                <a:solidFill>
                  <a:srgbClr val="444444"/>
                </a:solidFill>
                <a:latin typeface="Calibri" panose="020F0502020204030204"/>
              </a:rPr>
              <a:t>•  Journey: fully manual → Python automation (extract/Excel) → AI Search in the same flow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444444"/>
                </a:solidFill>
                <a:latin typeface="Calibri" panose="020F0502020204030204"/>
              </a:rPr>
              <a:t>•  AI is an extension of a working application — not the starting point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444444"/>
                </a:solidFill>
                <a:latin typeface="Calibri" panose="020F0502020204030204"/>
              </a:rPr>
              <a:t>•  Hybrid Rules + ML keeps URL accuracy high (~95%) under bank security constraints</a:t>
            </a:r>
            <a:endParaRPr lang="en-US" sz="1800" b="0" dirty="0">
              <a:solidFill>
                <a:srgbClr val="444444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lang="en-US" altLang="zh-CN" dirty="0">
                <a:solidFill>
                  <a:srgbClr val="444444"/>
                </a:solidFill>
              </a:rPr>
              <a:t>• </a:t>
            </a:r>
            <a:r>
              <a:rPr lang="en-US" dirty="0">
                <a:solidFill>
                  <a:srgbClr val="444444"/>
                </a:solidFill>
                <a:latin typeface="Calibri" panose="020F0502020204030204"/>
              </a:rPr>
              <a:t>The data hitting is about 90%, the fault mainly comes from the wrong URL choosing, some of them comes from the change of standard of deposits.</a:t>
            </a:r>
            <a:endParaRPr sz="1800" b="0" dirty="0">
              <a:solidFill>
                <a:srgbClr val="444444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444444"/>
                </a:solidFill>
                <a:latin typeface="Calibri" panose="020F0502020204030204"/>
              </a:rPr>
              <a:t>•  Business impact: less manpower, more reliable market-rate Excel</a:t>
            </a:r>
            <a:endParaRPr lang="en-US" sz="1800" b="0" dirty="0">
              <a:solidFill>
                <a:srgbClr val="444444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endParaRPr lang="en-US" dirty="0">
              <a:solidFill>
                <a:srgbClr val="444444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endParaRPr lang="en-US" sz="1800" b="0" dirty="0">
              <a:solidFill>
                <a:srgbClr val="444444"/>
              </a:solidFill>
              <a:latin typeface="Calibri" panose="020F0502020204030204"/>
            </a:endParaRPr>
          </a:p>
          <a:p>
            <a:pPr algn="ctr">
              <a:spcAft>
                <a:spcPts val="1000"/>
              </a:spcAft>
            </a:pPr>
            <a:r>
              <a:rPr lang="en-US" sz="3200" dirty="0">
                <a:solidFill>
                  <a:srgbClr val="444444"/>
                </a:solidFill>
                <a:latin typeface="Calibri" panose="020F0502020204030204"/>
              </a:rPr>
              <a:t>Thanks!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3"/>
          <p:cNvSpPr txBox="1"/>
          <p:nvPr/>
        </p:nvSpPr>
        <p:spPr>
          <a:xfrm>
            <a:off x="457200" y="228600"/>
            <a:ext cx="85151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Calibri" panose="020F0502020204030204"/>
              </a:rPr>
              <a:t>Q&amp;A</a:t>
            </a:r>
            <a:endParaRPr sz="2600" b="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609447" y="2731373"/>
            <a:ext cx="10972800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endParaRPr lang="en-US" dirty="0">
              <a:solidFill>
                <a:srgbClr val="444444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endParaRPr lang="en-US" sz="1800" b="0" dirty="0">
              <a:solidFill>
                <a:srgbClr val="444444"/>
              </a:solidFill>
              <a:latin typeface="Calibri" panose="020F0502020204030204"/>
            </a:endParaRPr>
          </a:p>
          <a:p>
            <a:pPr algn="ctr">
              <a:spcAft>
                <a:spcPts val="1000"/>
              </a:spcAft>
            </a:pPr>
            <a:r>
              <a:rPr lang="en-US" sz="3200" dirty="0">
                <a:solidFill>
                  <a:srgbClr val="444444"/>
                </a:solidFill>
                <a:latin typeface="Calibri" panose="020F0502020204030204"/>
              </a:rPr>
              <a:t>Thanks!</a:t>
            </a:r>
          </a:p>
        </p:txBody>
      </p:sp>
      <p:sp>
        <p:nvSpPr>
          <p:cNvPr id="11" name="TextBox 5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13" name="TextBox 6"/>
          <p:cNvSpPr txBox="1"/>
          <p:nvPr/>
        </p:nvSpPr>
        <p:spPr>
          <a:xfrm>
            <a:off x="11388208" y="630936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888888"/>
                </a:solidFill>
                <a:latin typeface="Calibri" panose="020F0502020204030204"/>
              </a:rPr>
              <a:t>1</a:t>
            </a:r>
            <a:r>
              <a:rPr lang="en-US" sz="1000" b="0" dirty="0">
                <a:solidFill>
                  <a:srgbClr val="888888"/>
                </a:solidFill>
                <a:latin typeface="Calibri" panose="020F0502020204030204"/>
              </a:rPr>
              <a:t>3</a:t>
            </a:r>
            <a:endParaRPr sz="1000" b="0" dirty="0">
              <a:solidFill>
                <a:srgbClr val="88888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1102</Words>
  <Application>Microsoft Office PowerPoint</Application>
  <PresentationFormat>宽屏</PresentationFormat>
  <Paragraphs>132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xuwenzhe</dc:creator>
  <dc:description>generated using python-pptx</dc:description>
  <cp:lastModifiedBy>Xu Wenzhe</cp:lastModifiedBy>
  <cp:revision>17</cp:revision>
  <dcterms:created xsi:type="dcterms:W3CDTF">2013-01-27T09:14:00Z</dcterms:created>
  <dcterms:modified xsi:type="dcterms:W3CDTF">2026-07-30T15:44:57Z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0E3E8B126D8747C9AA0A0185A8624892_12</vt:lpwstr>
  </property>
</Properties>
</file>